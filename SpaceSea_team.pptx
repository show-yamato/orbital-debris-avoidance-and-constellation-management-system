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9500" autoAdjust="0"/>
  </p:normalViewPr>
  <p:slideViewPr>
    <p:cSldViewPr snapToGrid="0" snapToObjects="1">
      <p:cViewPr varScale="1">
        <p:scale>
          <a:sx n="76" d="100"/>
          <a:sy n="76" d="100"/>
        </p:scale>
        <p:origin x="91" y="19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kyyy 07" userId="608a9cf103cc8694" providerId="LiveId" clId="{D8E30D91-C8CD-4634-9190-83024CBD736A}"/>
    <pc:docChg chg="modSld">
      <pc:chgData name="Luckyyy 07" userId="608a9cf103cc8694" providerId="LiveId" clId="{D8E30D91-C8CD-4634-9190-83024CBD736A}" dt="2026-03-28T19:50:27.974" v="0" actId="14100"/>
      <pc:docMkLst>
        <pc:docMk/>
      </pc:docMkLst>
      <pc:sldChg chg="modSp mod">
        <pc:chgData name="Luckyyy 07" userId="608a9cf103cc8694" providerId="LiveId" clId="{D8E30D91-C8CD-4634-9190-83024CBD736A}" dt="2026-03-28T19:50:27.974" v="0" actId="14100"/>
        <pc:sldMkLst>
          <pc:docMk/>
          <pc:sldMk cId="350087166" sldId="263"/>
        </pc:sldMkLst>
        <pc:spChg chg="mod">
          <ac:chgData name="Luckyyy 07" userId="608a9cf103cc8694" providerId="LiveId" clId="{D8E30D91-C8CD-4634-9190-83024CBD736A}" dt="2026-03-28T19:50:27.974" v="0" actId="14100"/>
          <ac:spMkLst>
            <pc:docMk/>
            <pc:sldMk cId="350087166" sldId="263"/>
            <ac:spMk id="13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‹#›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2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3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en-US" altLang="zh-CN" sz="1200">
                <a:latin typeface="Aptos" charset="0"/>
                <a:ea typeface="等线" charset="0"/>
                <a:cs typeface="Aptos" charset="0"/>
              </a:rPr>
              <a:t>3/29/2026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4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5" name="文本框"/>
          <p:cNvSpPr>
            <a:spLocks noGrp="1"/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416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charset="0"/>
        <a:ea typeface="等线" charset="0"/>
        <a:cs typeface="Aptos" charset="0"/>
      </a:defRPr>
    </a:lvl1pPr>
    <a:lvl2pPr marL="457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charset="0"/>
        <a:ea typeface="等线" charset="0"/>
        <a:cs typeface="Aptos" charset="0"/>
      </a:defRPr>
    </a:lvl2pPr>
    <a:lvl3pPr marL="914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charset="0"/>
        <a:ea typeface="等线" charset="0"/>
        <a:cs typeface="Aptos" charset="0"/>
      </a:defRPr>
    </a:lvl3pPr>
    <a:lvl4pPr marL="13716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charset="0"/>
        <a:ea typeface="等线" charset="0"/>
        <a:cs typeface="Aptos" charset="0"/>
      </a:defRPr>
    </a:lvl4pPr>
    <a:lvl5pPr marL="18288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charset="0"/>
        <a:ea typeface="等线" charset="0"/>
        <a:cs typeface="Aptos" charset="0"/>
      </a:defRPr>
    </a:lvl5pPr>
    <a:lvl6pPr marL="22860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charset="0"/>
        <a:ea typeface="等线" charset="0"/>
        <a:cs typeface="Aptos" charset="0"/>
      </a:defRPr>
    </a:lvl6pPr>
    <a:lvl7pPr marL="27432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charset="0"/>
        <a:ea typeface="等线" charset="0"/>
        <a:cs typeface="Aptos" charset="0"/>
      </a:defRPr>
    </a:lvl7pPr>
    <a:lvl8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charset="0"/>
        <a:ea typeface="等线" charset="0"/>
        <a:cs typeface="Aptos" charset="0"/>
      </a:defRPr>
    </a:lvl8pPr>
    <a:lvl9pPr marL="3200400" indent="0" algn="l" defTabSz="914400" eaLnBrk="1" fontAlgn="auto" latinLnBrk="0" hangingPunct="1">
      <a:lnSpc>
        <a:spcPct val="100000"/>
      </a:lnSpc>
      <a:spcBef>
        <a:spcPts val="0"/>
      </a:spcBef>
      <a:spcAft>
        <a:spcPts val="0"/>
      </a:spcAft>
      <a:buNone/>
      <a:defRPr sz="1200" b="0" i="0" u="none" strike="noStrike" kern="1200" cap="none" spc="0" baseline="0">
        <a:solidFill>
          <a:schemeClr val="tx1"/>
        </a:solidFill>
        <a:latin typeface="Aptos" charset="0"/>
        <a:ea typeface="等线" charset="0"/>
        <a:cs typeface="Aptos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1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20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21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333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2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32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33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962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3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51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52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420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4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72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73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608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5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90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91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085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6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17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18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177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7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29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30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159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8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38" name="对象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sp>
      <p:sp>
        <p:nvSpPr>
          <p:cNvPr id="139" name="文本框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791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800" y="3886199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889427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2638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18686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68203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374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33718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643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711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43298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3034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5904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777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93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Aptos Display" charset="0"/>
          <a:ea typeface="等线 Light" charset="0"/>
          <a:cs typeface="Aptos Display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ow-yamato/orbital-debris-avoidance-and-constellation-management-syste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"/>
          <p:cNvSpPr>
            <a:spLocks/>
          </p:cNvSpPr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Orbital Insight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9" name="矩形"/>
          <p:cNvSpPr>
            <a:spLocks/>
          </p:cNvSpPr>
          <p:nvPr/>
        </p:nvSpPr>
        <p:spPr>
          <a:xfrm>
            <a:off x="731520" y="1280160"/>
            <a:ext cx="5852160" cy="3657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Autonomous satellite collision avoidance simulation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0" name="矩形"/>
          <p:cNvSpPr>
            <a:spLocks/>
          </p:cNvSpPr>
          <p:nvPr/>
        </p:nvSpPr>
        <p:spPr>
          <a:xfrm>
            <a:off x="731520" y="1691639"/>
            <a:ext cx="5760720" cy="2743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9DB1CC"/>
                </a:solidFill>
                <a:latin typeface="Aptos" charset="0"/>
                <a:ea typeface="等线" charset="0"/>
                <a:cs typeface="Aptos" charset="0"/>
              </a:rPr>
              <a:t>Built from the provided README, requirements, and notebook files.</a:t>
            </a:r>
            <a:endParaRPr lang="zh-CN" altLang="en-US" sz="12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1" name="椭圆"/>
          <p:cNvSpPr>
            <a:spLocks/>
          </p:cNvSpPr>
          <p:nvPr/>
        </p:nvSpPr>
        <p:spPr>
          <a:xfrm>
            <a:off x="7040880" y="1005839"/>
            <a:ext cx="3474720" cy="3474720"/>
          </a:xfrm>
          <a:prstGeom prst="ellipse">
            <a:avLst/>
          </a:prstGeom>
          <a:solidFill>
            <a:srgbClr val="102849">
              <a:alpha val="0"/>
            </a:srgbClr>
          </a:solidFill>
          <a:ln w="12700" cap="flat" cmpd="sng">
            <a:solidFill>
              <a:srgbClr val="41C7F4">
                <a:alpha val="85000"/>
              </a:srgbClr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2" name="椭圆"/>
          <p:cNvSpPr>
            <a:spLocks/>
          </p:cNvSpPr>
          <p:nvPr/>
        </p:nvSpPr>
        <p:spPr>
          <a:xfrm>
            <a:off x="7818120" y="1783080"/>
            <a:ext cx="1920240" cy="1920239"/>
          </a:xfrm>
          <a:prstGeom prst="ellipse">
            <a:avLst/>
          </a:prstGeom>
          <a:solidFill>
            <a:srgbClr val="2F6BFF"/>
          </a:solidFill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3" name="弧形"/>
          <p:cNvSpPr>
            <a:spLocks/>
          </p:cNvSpPr>
          <p:nvPr/>
        </p:nvSpPr>
        <p:spPr>
          <a:xfrm>
            <a:off x="8781916" y="590541"/>
            <a:ext cx="2190716" cy="215261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 fill="none">
                <a:moveTo>
                  <a:pt x="-36" y="38"/>
                </a:moveTo>
                <a:cubicBezTo>
                  <a:pt x="11914" y="38"/>
                  <a:pt x="21601" y="9692"/>
                  <a:pt x="21601" y="21600"/>
                </a:cubicBezTo>
              </a:path>
              <a:path w="21600" h="21600" stroke="0">
                <a:moveTo>
                  <a:pt x="-36" y="38"/>
                </a:moveTo>
                <a:cubicBezTo>
                  <a:pt x="11914" y="38"/>
                  <a:pt x="21601" y="9692"/>
                  <a:pt x="21601" y="21600"/>
                </a:cubicBezTo>
                <a:lnTo>
                  <a:pt x="36" y="21600"/>
                </a:lnTo>
                <a:close/>
              </a:path>
            </a:pathLst>
          </a:custGeom>
          <a:noFill/>
          <a:ln w="12700" cap="flat" cmpd="sng">
            <a:solidFill>
              <a:srgbClr val="30C48D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4" name="弧形"/>
          <p:cNvSpPr>
            <a:spLocks/>
          </p:cNvSpPr>
          <p:nvPr/>
        </p:nvSpPr>
        <p:spPr>
          <a:xfrm>
            <a:off x="8781916" y="781038"/>
            <a:ext cx="1914495" cy="1962120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 fill="none">
                <a:moveTo>
                  <a:pt x="-41" y="-41"/>
                </a:moveTo>
                <a:cubicBezTo>
                  <a:pt x="11923" y="-41"/>
                  <a:pt x="21623" y="9647"/>
                  <a:pt x="21623" y="21600"/>
                </a:cubicBezTo>
              </a:path>
              <a:path w="21600" h="21600" stroke="0">
                <a:moveTo>
                  <a:pt x="-41" y="-41"/>
                </a:moveTo>
                <a:cubicBezTo>
                  <a:pt x="11923" y="-41"/>
                  <a:pt x="21623" y="9647"/>
                  <a:pt x="21623" y="21600"/>
                </a:cubicBezTo>
                <a:lnTo>
                  <a:pt x="41" y="21600"/>
                </a:lnTo>
                <a:close/>
              </a:path>
            </a:pathLst>
          </a:custGeom>
          <a:noFill/>
          <a:ln w="12700" cap="flat" cmpd="sng">
            <a:solidFill>
              <a:srgbClr val="FF6B6B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8229600" y="2103120"/>
            <a:ext cx="1097279" cy="91439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Detect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Avoid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Recover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11430001" y="6400800"/>
            <a:ext cx="274319" cy="1828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A0B3CC"/>
                </a:solidFill>
                <a:latin typeface="Aptos" charset="0"/>
                <a:ea typeface="等线" charset="0"/>
                <a:cs typeface="Aptos" charset="0"/>
              </a:rPr>
              <a:t>1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7" name="圆角矩形"/>
          <p:cNvSpPr>
            <a:spLocks/>
          </p:cNvSpPr>
          <p:nvPr/>
        </p:nvSpPr>
        <p:spPr>
          <a:xfrm>
            <a:off x="822960" y="2971799"/>
            <a:ext cx="4754880" cy="3278276"/>
          </a:xfrm>
          <a:prstGeom prst="roundRect">
            <a:avLst>
              <a:gd name="adj" fmla="val 16666"/>
            </a:avLst>
          </a:prstGeom>
          <a:solidFill>
            <a:srgbClr val="082147"/>
          </a:solidFill>
          <a:ln w="6350" cap="flat" cmpd="sng">
            <a:solidFill>
              <a:srgbClr val="2AAA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8" name="矩形"/>
          <p:cNvSpPr>
            <a:spLocks/>
          </p:cNvSpPr>
          <p:nvPr/>
        </p:nvSpPr>
        <p:spPr>
          <a:xfrm>
            <a:off x="1051560" y="3154680"/>
            <a:ext cx="1027709" cy="3581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FFFFFF"/>
                </a:solidFill>
                <a:latin typeface="Aptos" charset="0"/>
                <a:ea typeface="等线" charset="0"/>
                <a:cs typeface="Aptos" charset="0"/>
              </a:rPr>
              <a:t>Made by</a:t>
            </a:r>
            <a:endParaRPr lang="zh-CN" altLang="en-US" sz="1800" b="1" i="0" u="none" strike="noStrike" kern="1200" cap="none" spc="0" baseline="0">
              <a:solidFill>
                <a:srgbClr val="FFFFFF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9" name="矩形"/>
          <p:cNvSpPr>
            <a:spLocks/>
          </p:cNvSpPr>
          <p:nvPr/>
        </p:nvSpPr>
        <p:spPr>
          <a:xfrm>
            <a:off x="1051560" y="3493008"/>
            <a:ext cx="4297680" cy="198056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Aptos" charset="0"/>
                <a:ea typeface="等线" charset="0"/>
                <a:cs typeface="Aptos" charset="0"/>
              </a:rPr>
              <a:t>Devyansh Srivastava</a:t>
            </a:r>
            <a:r>
              <a:rPr lang="en-US" altLang="zh-CN" sz="1100" b="0" i="0" u="none" strike="noStrike" kern="1200" cap="none" spc="0" baseline="0">
                <a:solidFill>
                  <a:srgbClr val="C8D7EB"/>
                </a:solidFill>
                <a:latin typeface="Aptos" charset="0"/>
                <a:ea typeface="等线" charset="0"/>
                <a:cs typeface="Aptos" charset="0"/>
              </a:rPr>
              <a:t>
1st year, ECE
KIET Group of Institutions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Aptos" charset="0"/>
                <a:ea typeface="等线" charset="0"/>
                <a:cs typeface="Aptos" charset="0"/>
              </a:rPr>
              <a:t>Prashant Dev</a:t>
            </a:r>
            <a:r>
              <a:rPr lang="en-US" altLang="zh-CN" sz="1100" b="0" i="0" u="none" strike="noStrike" kern="1200" cap="none" spc="0" baseline="0">
                <a:solidFill>
                  <a:srgbClr val="C8D7EB"/>
                </a:solidFill>
                <a:latin typeface="Aptos" charset="0"/>
                <a:ea typeface="等线" charset="0"/>
                <a:cs typeface="Aptos" charset="0"/>
              </a:rPr>
              <a:t>
1st year, ECE
KIET Group of Institutions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1600" b="1" i="0" u="none" strike="noStrike" kern="1200" cap="none" spc="0" baseline="0">
                <a:solidFill>
                  <a:srgbClr val="FFFFFF"/>
                </a:solidFill>
                <a:latin typeface="Aptos" charset="0"/>
                <a:ea typeface="等线" charset="0"/>
                <a:cs typeface="Aptos" charset="0"/>
              </a:rPr>
              <a:t>Khushi</a:t>
            </a:r>
            <a:r>
              <a:rPr lang="en-US" altLang="zh-CN" sz="1100" b="0" i="0" u="none" strike="noStrike" kern="1200" cap="none" spc="0" baseline="0">
                <a:solidFill>
                  <a:srgbClr val="C8D7EB"/>
                </a:solidFill>
                <a:latin typeface="Aptos" charset="0"/>
                <a:ea typeface="等线" charset="0"/>
                <a:cs typeface="Aptos" charset="0"/>
              </a:rPr>
              <a:t>
1st year, ECE
KIET Group of Institutions</a:t>
            </a:r>
            <a:endParaRPr lang="zh-CN" altLang="en-US" sz="1100" b="0" i="0" u="none" strike="noStrike" kern="1200" cap="none" spc="0" baseline="0">
              <a:solidFill>
                <a:srgbClr val="C8D7EB"/>
              </a:solidFill>
              <a:latin typeface="Aptos" charset="0"/>
              <a:ea typeface="等线" charset="0"/>
              <a:cs typeface="Apto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72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"/>
          <p:cNvSpPr>
            <a:spLocks/>
          </p:cNvSpPr>
          <p:nvPr/>
        </p:nvSpPr>
        <p:spPr>
          <a:xfrm>
            <a:off x="640080" y="365760"/>
            <a:ext cx="7223760" cy="5029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F8FAFC"/>
                </a:solidFill>
                <a:latin typeface="Aptos Display" charset="0"/>
                <a:ea typeface="Aptos Display" charset="0"/>
                <a:cs typeface="Aptos Display" charset="0"/>
              </a:rPr>
              <a:t>Problem and objective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23" name="矩形"/>
          <p:cNvSpPr>
            <a:spLocks/>
          </p:cNvSpPr>
          <p:nvPr/>
        </p:nvSpPr>
        <p:spPr>
          <a:xfrm>
            <a:off x="658368" y="896112"/>
            <a:ext cx="7772400" cy="29260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9DB1CC"/>
                </a:solidFill>
                <a:latin typeface="Aptos" charset="0"/>
                <a:ea typeface="等线" charset="0"/>
                <a:cs typeface="Aptos" charset="0"/>
              </a:rPr>
              <a:t>Why the system exists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24" name="直线"/>
          <p:cNvSpPr>
            <a:spLocks/>
          </p:cNvSpPr>
          <p:nvPr/>
        </p:nvSpPr>
        <p:spPr>
          <a:xfrm>
            <a:off x="640080" y="1234440"/>
            <a:ext cx="10881359" cy="0"/>
          </a:xfrm>
          <a:prstGeom prst="line">
            <a:avLst/>
          </a:prstGeom>
          <a:noFill/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25" name="圆角矩形"/>
          <p:cNvSpPr>
            <a:spLocks/>
          </p:cNvSpPr>
          <p:nvPr/>
        </p:nvSpPr>
        <p:spPr>
          <a:xfrm>
            <a:off x="731520" y="1645920"/>
            <a:ext cx="5212080" cy="4389119"/>
          </a:xfrm>
          <a:prstGeom prst="roundRect">
            <a:avLst>
              <a:gd name="adj" fmla="val 1666"/>
            </a:avLst>
          </a:prstGeom>
          <a:solidFill>
            <a:srgbClr val="102849"/>
          </a:solidFill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26" name="矩形"/>
          <p:cNvSpPr>
            <a:spLocks/>
          </p:cNvSpPr>
          <p:nvPr/>
        </p:nvSpPr>
        <p:spPr>
          <a:xfrm>
            <a:off x="960120" y="1874520"/>
            <a:ext cx="1828800" cy="3200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F6B6B"/>
                </a:solidFill>
                <a:latin typeface="Aptos" charset="0"/>
                <a:ea typeface="等线" charset="0"/>
                <a:cs typeface="Aptos" charset="0"/>
              </a:rPr>
              <a:t>Problem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27" name="矩形"/>
          <p:cNvSpPr>
            <a:spLocks/>
          </p:cNvSpPr>
          <p:nvPr/>
        </p:nvSpPr>
        <p:spPr>
          <a:xfrm>
            <a:off x="960120" y="2240280"/>
            <a:ext cx="4571999" cy="2286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508" tIns="508" rIns="508" bIns="508" anchor="t" anchorCtr="0">
            <a:prstTxWarp prst="textNoShape">
              <a:avLst/>
            </a:prstTxWarp>
          </a:bodyPr>
          <a:lstStyle/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9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Satellite density and orbital debris increase collision risk.</a:t>
            </a:r>
            <a:endParaRPr lang="en-US" altLang="zh-CN" sz="19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9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Existing workflows rely on delayed human intervention.</a:t>
            </a:r>
            <a:endParaRPr lang="en-US" altLang="zh-CN" sz="19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9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A late response can cause mission loss, fragmentation, and cascading debris.</a:t>
            </a:r>
            <a:endParaRPr lang="zh-CN" altLang="en-US" sz="19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28" name="圆角矩形"/>
          <p:cNvSpPr>
            <a:spLocks/>
          </p:cNvSpPr>
          <p:nvPr/>
        </p:nvSpPr>
        <p:spPr>
          <a:xfrm>
            <a:off x="6309360" y="1645920"/>
            <a:ext cx="5120640" cy="4389119"/>
          </a:xfrm>
          <a:prstGeom prst="roundRect">
            <a:avLst>
              <a:gd name="adj" fmla="val 1666"/>
            </a:avLst>
          </a:prstGeom>
          <a:solidFill>
            <a:srgbClr val="102849"/>
          </a:solidFill>
          <a:ln w="12700" cap="flat" cmpd="sng">
            <a:solidFill>
              <a:srgbClr val="30C48D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29" name="矩形"/>
          <p:cNvSpPr>
            <a:spLocks/>
          </p:cNvSpPr>
          <p:nvPr/>
        </p:nvSpPr>
        <p:spPr>
          <a:xfrm>
            <a:off x="6537960" y="1874520"/>
            <a:ext cx="1828800" cy="3200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30C48D"/>
                </a:solidFill>
                <a:latin typeface="Aptos" charset="0"/>
                <a:ea typeface="等线" charset="0"/>
                <a:cs typeface="Aptos" charset="0"/>
              </a:rPr>
              <a:t>Objective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30" name="矩形"/>
          <p:cNvSpPr>
            <a:spLocks/>
          </p:cNvSpPr>
          <p:nvPr/>
        </p:nvSpPr>
        <p:spPr>
          <a:xfrm>
            <a:off x="6537960" y="2240280"/>
            <a:ext cx="4480560" cy="2286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508" tIns="508" rIns="508" bIns="508" anchor="t" anchorCtr="0">
            <a:prstTxWarp prst="textNoShape">
              <a:avLst/>
            </a:prstTxWarp>
          </a:bodyPr>
          <a:lstStyle/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9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Design an autonomous system that detects and prevents collisions.</a:t>
            </a:r>
            <a:endParaRPr lang="en-US" altLang="zh-CN" sz="19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9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Minimize manual intervention during simulation runtime.</a:t>
            </a:r>
            <a:endParaRPr lang="en-US" altLang="zh-CN" sz="19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9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Provide real-time operational visibility through logs and phone alerts.</a:t>
            </a:r>
            <a:endParaRPr lang="zh-CN" altLang="en-US" sz="19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31" name="矩形"/>
          <p:cNvSpPr>
            <a:spLocks/>
          </p:cNvSpPr>
          <p:nvPr/>
        </p:nvSpPr>
        <p:spPr>
          <a:xfrm>
            <a:off x="11430001" y="6400800"/>
            <a:ext cx="274319" cy="1828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A0B3CC"/>
                </a:solidFill>
                <a:latin typeface="Aptos" charset="0"/>
                <a:ea typeface="等线" charset="0"/>
                <a:cs typeface="Aptos" charset="0"/>
              </a:rPr>
              <a:t>2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330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"/>
          <p:cNvSpPr>
            <a:spLocks/>
          </p:cNvSpPr>
          <p:nvPr/>
        </p:nvSpPr>
        <p:spPr>
          <a:xfrm>
            <a:off x="640080" y="365760"/>
            <a:ext cx="7223760" cy="5029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F8FAFC"/>
                </a:solidFill>
                <a:latin typeface="Aptos Display" charset="0"/>
                <a:ea typeface="Aptos Display" charset="0"/>
                <a:cs typeface="Aptos Display" charset="0"/>
              </a:rPr>
              <a:t>System scope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35" name="矩形"/>
          <p:cNvSpPr>
            <a:spLocks/>
          </p:cNvSpPr>
          <p:nvPr/>
        </p:nvSpPr>
        <p:spPr>
          <a:xfrm>
            <a:off x="658368" y="896112"/>
            <a:ext cx="7772400" cy="29260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9DB1CC"/>
                </a:solidFill>
                <a:latin typeface="Aptos" charset="0"/>
                <a:ea typeface="等线" charset="0"/>
                <a:cs typeface="Aptos" charset="0"/>
              </a:rPr>
              <a:t>What the prototype simulates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36" name="直线"/>
          <p:cNvSpPr>
            <a:spLocks/>
          </p:cNvSpPr>
          <p:nvPr/>
        </p:nvSpPr>
        <p:spPr>
          <a:xfrm>
            <a:off x="640080" y="1234440"/>
            <a:ext cx="10881359" cy="0"/>
          </a:xfrm>
          <a:prstGeom prst="line">
            <a:avLst/>
          </a:prstGeom>
          <a:noFill/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37" name="燕尾形"/>
          <p:cNvSpPr>
            <a:spLocks/>
          </p:cNvSpPr>
          <p:nvPr/>
        </p:nvSpPr>
        <p:spPr>
          <a:xfrm>
            <a:off x="822960" y="2286000"/>
            <a:ext cx="1645920" cy="822959"/>
          </a:xfrm>
          <a:prstGeom prst="chevron">
            <a:avLst>
              <a:gd name="adj" fmla="val 50000"/>
            </a:avLst>
          </a:prstGeom>
          <a:solidFill>
            <a:srgbClr val="2F6BFF"/>
          </a:solidFill>
          <a:ln w="12700" cap="flat" cmpd="sng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38" name="矩形"/>
          <p:cNvSpPr>
            <a:spLocks/>
          </p:cNvSpPr>
          <p:nvPr/>
        </p:nvSpPr>
        <p:spPr>
          <a:xfrm>
            <a:off x="896112" y="2532887"/>
            <a:ext cx="1417320" cy="2560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Launch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39" name="燕尾形"/>
          <p:cNvSpPr>
            <a:spLocks/>
          </p:cNvSpPr>
          <p:nvPr/>
        </p:nvSpPr>
        <p:spPr>
          <a:xfrm>
            <a:off x="2743200" y="2286000"/>
            <a:ext cx="1645920" cy="822959"/>
          </a:xfrm>
          <a:prstGeom prst="chevron">
            <a:avLst>
              <a:gd name="adj" fmla="val 50000"/>
            </a:avLst>
          </a:prstGeom>
          <a:solidFill>
            <a:srgbClr val="2F6BFF"/>
          </a:solidFill>
          <a:ln w="12700" cap="flat" cmpd="sng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40" name="矩形"/>
          <p:cNvSpPr>
            <a:spLocks/>
          </p:cNvSpPr>
          <p:nvPr/>
        </p:nvSpPr>
        <p:spPr>
          <a:xfrm>
            <a:off x="2816352" y="2532887"/>
            <a:ext cx="1417319" cy="2560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Deploy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41" name="燕尾形"/>
          <p:cNvSpPr>
            <a:spLocks/>
          </p:cNvSpPr>
          <p:nvPr/>
        </p:nvSpPr>
        <p:spPr>
          <a:xfrm>
            <a:off x="4846320" y="2286000"/>
            <a:ext cx="1645920" cy="822959"/>
          </a:xfrm>
          <a:prstGeom prst="chevron">
            <a:avLst>
              <a:gd name="adj" fmla="val 50000"/>
            </a:avLst>
          </a:prstGeom>
          <a:solidFill>
            <a:srgbClr val="FF6B6B"/>
          </a:solidFill>
          <a:ln w="12700" cap="flat" cmpd="sng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42" name="矩形"/>
          <p:cNvSpPr>
            <a:spLocks/>
          </p:cNvSpPr>
          <p:nvPr/>
        </p:nvSpPr>
        <p:spPr>
          <a:xfrm>
            <a:off x="4919471" y="2532887"/>
            <a:ext cx="1417319" cy="2560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Collision detection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43" name="燕尾形"/>
          <p:cNvSpPr>
            <a:spLocks/>
          </p:cNvSpPr>
          <p:nvPr/>
        </p:nvSpPr>
        <p:spPr>
          <a:xfrm>
            <a:off x="7315200" y="2286000"/>
            <a:ext cx="1645919" cy="822959"/>
          </a:xfrm>
          <a:prstGeom prst="chevron">
            <a:avLst>
              <a:gd name="adj" fmla="val 50000"/>
            </a:avLst>
          </a:prstGeom>
          <a:solidFill>
            <a:srgbClr val="30C48D"/>
          </a:solidFill>
          <a:ln w="12700" cap="flat" cmpd="sng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44" name="矩形"/>
          <p:cNvSpPr>
            <a:spLocks/>
          </p:cNvSpPr>
          <p:nvPr/>
        </p:nvSpPr>
        <p:spPr>
          <a:xfrm>
            <a:off x="7388352" y="2532887"/>
            <a:ext cx="1417319" cy="2560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Avoidance burn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45" name="燕尾形"/>
          <p:cNvSpPr>
            <a:spLocks/>
          </p:cNvSpPr>
          <p:nvPr/>
        </p:nvSpPr>
        <p:spPr>
          <a:xfrm>
            <a:off x="9354311" y="2286000"/>
            <a:ext cx="1645920" cy="822959"/>
          </a:xfrm>
          <a:prstGeom prst="chevron">
            <a:avLst>
              <a:gd name="adj" fmla="val 50000"/>
            </a:avLst>
          </a:prstGeom>
          <a:solidFill>
            <a:srgbClr val="2F6BFF"/>
          </a:solidFill>
          <a:ln w="12700" cap="flat" cmpd="sng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46" name="矩形"/>
          <p:cNvSpPr>
            <a:spLocks/>
          </p:cNvSpPr>
          <p:nvPr/>
        </p:nvSpPr>
        <p:spPr>
          <a:xfrm>
            <a:off x="9582913" y="2532887"/>
            <a:ext cx="1319550" cy="2560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 dirty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Orbit recovery</a:t>
            </a:r>
            <a:endParaRPr lang="zh-CN" altLang="en-US" sz="1400" b="0" i="0" u="none" strike="noStrike" kern="1200" cap="none" spc="0" baseline="0" dirty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47" name="矩形"/>
          <p:cNvSpPr>
            <a:spLocks/>
          </p:cNvSpPr>
          <p:nvPr/>
        </p:nvSpPr>
        <p:spPr>
          <a:xfrm>
            <a:off x="914400" y="3840480"/>
            <a:ext cx="6583680" cy="1828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508" tIns="508" rIns="508" bIns="508" anchor="t" anchorCtr="0">
            <a:prstTxWarp prst="textNoShape">
              <a:avLst/>
            </a:prstTxWarp>
          </a:bodyPr>
          <a:lstStyle/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3D solar system and Earth-orbit visualization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Satellite and debris interaction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Hybrid operating model: autonomous response with manual oversight</a:t>
            </a:r>
            <a:endParaRPr lang="en-US" altLang="zh-CN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20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Event logging and ntfy-based phone notifications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48" name="圆角矩形"/>
          <p:cNvSpPr>
            <a:spLocks/>
          </p:cNvSpPr>
          <p:nvPr/>
        </p:nvSpPr>
        <p:spPr>
          <a:xfrm>
            <a:off x="8229600" y="3794760"/>
            <a:ext cx="2560320" cy="1463040"/>
          </a:xfrm>
          <a:prstGeom prst="roundRect">
            <a:avLst>
              <a:gd name="adj" fmla="val 3125"/>
            </a:avLst>
          </a:prstGeom>
          <a:solidFill>
            <a:srgbClr val="102849"/>
          </a:solidFill>
          <a:ln w="12700" cap="flat" cmpd="sng">
            <a:solidFill>
              <a:srgbClr val="41C7F4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49" name="矩形"/>
          <p:cNvSpPr>
            <a:spLocks/>
          </p:cNvSpPr>
          <p:nvPr/>
        </p:nvSpPr>
        <p:spPr>
          <a:xfrm>
            <a:off x="8412480" y="4023359"/>
            <a:ext cx="2194560" cy="100583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254" tIns="254" rIns="254" bIns="254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Inputs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• Satellite count (max 5)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• Debris count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• Orbit radius</a:t>
            </a:r>
            <a:endParaRPr lang="en-US" altLang="zh-CN" sz="15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• Alert topic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50" name="矩形"/>
          <p:cNvSpPr>
            <a:spLocks/>
          </p:cNvSpPr>
          <p:nvPr/>
        </p:nvSpPr>
        <p:spPr>
          <a:xfrm>
            <a:off x="11430001" y="6400800"/>
            <a:ext cx="274319" cy="1828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A0B3CC"/>
                </a:solidFill>
                <a:latin typeface="Aptos" charset="0"/>
                <a:ea typeface="等线" charset="0"/>
                <a:cs typeface="Aptos" charset="0"/>
              </a:rPr>
              <a:t>3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8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"/>
          <p:cNvSpPr>
            <a:spLocks/>
          </p:cNvSpPr>
          <p:nvPr/>
        </p:nvSpPr>
        <p:spPr>
          <a:xfrm>
            <a:off x="640080" y="365760"/>
            <a:ext cx="7223760" cy="5029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F8FAFC"/>
                </a:solidFill>
                <a:latin typeface="Aptos Display" charset="0"/>
                <a:ea typeface="Aptos Display" charset="0"/>
                <a:cs typeface="Aptos Display" charset="0"/>
              </a:rPr>
              <a:t>Architecture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54" name="矩形"/>
          <p:cNvSpPr>
            <a:spLocks/>
          </p:cNvSpPr>
          <p:nvPr/>
        </p:nvSpPr>
        <p:spPr>
          <a:xfrm>
            <a:off x="658368" y="896112"/>
            <a:ext cx="7772400" cy="29260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9DB1CC"/>
                </a:solidFill>
                <a:latin typeface="Aptos" charset="0"/>
                <a:ea typeface="等线" charset="0"/>
                <a:cs typeface="Aptos" charset="0"/>
              </a:rPr>
              <a:t>Prototype stack and data flow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55" name="直线"/>
          <p:cNvSpPr>
            <a:spLocks/>
          </p:cNvSpPr>
          <p:nvPr/>
        </p:nvSpPr>
        <p:spPr>
          <a:xfrm>
            <a:off x="640080" y="1234440"/>
            <a:ext cx="10881359" cy="0"/>
          </a:xfrm>
          <a:prstGeom prst="line">
            <a:avLst/>
          </a:prstGeom>
          <a:noFill/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56" name="直线"/>
          <p:cNvSpPr>
            <a:spLocks/>
          </p:cNvSpPr>
          <p:nvPr/>
        </p:nvSpPr>
        <p:spPr>
          <a:xfrm>
            <a:off x="2743200" y="2560320"/>
            <a:ext cx="320040" cy="0"/>
          </a:xfrm>
          <a:prstGeom prst="line">
            <a:avLst/>
          </a:prstGeom>
          <a:noFill/>
          <a:ln w="12700" cap="flat" cmpd="sng">
            <a:solidFill>
              <a:srgbClr val="EAF1FB"/>
            </a:solidFill>
            <a:prstDash val="solid"/>
            <a:rou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7" name="直线"/>
          <p:cNvSpPr>
            <a:spLocks/>
          </p:cNvSpPr>
          <p:nvPr/>
        </p:nvSpPr>
        <p:spPr>
          <a:xfrm>
            <a:off x="5074920" y="2560320"/>
            <a:ext cx="320040" cy="0"/>
          </a:xfrm>
          <a:prstGeom prst="line">
            <a:avLst/>
          </a:prstGeom>
          <a:noFill/>
          <a:ln w="12700" cap="flat" cmpd="sng">
            <a:solidFill>
              <a:srgbClr val="EAF1FB"/>
            </a:solidFill>
            <a:prstDash val="solid"/>
            <a:rou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8" name="直线"/>
          <p:cNvSpPr>
            <a:spLocks/>
          </p:cNvSpPr>
          <p:nvPr/>
        </p:nvSpPr>
        <p:spPr>
          <a:xfrm>
            <a:off x="7406639" y="2057400"/>
            <a:ext cx="320040" cy="320039"/>
          </a:xfrm>
          <a:prstGeom prst="line">
            <a:avLst/>
          </a:prstGeom>
          <a:noFill/>
          <a:ln w="12700" cap="flat" cmpd="sng">
            <a:solidFill>
              <a:srgbClr val="EAF1FB"/>
            </a:solidFill>
            <a:prstDash val="solid"/>
            <a:rou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9" name="直线"/>
          <p:cNvSpPr>
            <a:spLocks/>
          </p:cNvSpPr>
          <p:nvPr/>
        </p:nvSpPr>
        <p:spPr>
          <a:xfrm>
            <a:off x="7406639" y="2743200"/>
            <a:ext cx="320040" cy="502920"/>
          </a:xfrm>
          <a:prstGeom prst="line">
            <a:avLst/>
          </a:prstGeom>
          <a:noFill/>
          <a:ln w="12700" cap="flat" cmpd="sng">
            <a:solidFill>
              <a:srgbClr val="EAF1FB"/>
            </a:solidFill>
            <a:prstDash val="solid"/>
            <a:rou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0" name="圆角矩形"/>
          <p:cNvSpPr>
            <a:spLocks/>
          </p:cNvSpPr>
          <p:nvPr/>
        </p:nvSpPr>
        <p:spPr>
          <a:xfrm>
            <a:off x="731520" y="2011679"/>
            <a:ext cx="2011679" cy="1097280"/>
          </a:xfrm>
          <a:prstGeom prst="roundRect">
            <a:avLst>
              <a:gd name="adj" fmla="val 5000"/>
            </a:avLst>
          </a:prstGeom>
          <a:solidFill>
            <a:srgbClr val="2F6BFF">
              <a:alpha val="85000"/>
            </a:srgbClr>
          </a:solidFill>
          <a:ln w="12700" cap="flat" cmpd="sng">
            <a:solidFill>
              <a:srgbClr val="FFFFFF"/>
            </a:solidFill>
            <a:prstDash val="solid"/>
            <a:round/>
          </a:ln>
          <a:effectLst>
            <a:outerShdw blurRad="25400" dist="12700" dir="2700000" algn="bl" rotWithShape="0">
              <a:srgbClr val="000000">
                <a:alpha val="17647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矩形"/>
          <p:cNvSpPr>
            <a:spLocks/>
          </p:cNvSpPr>
          <p:nvPr/>
        </p:nvSpPr>
        <p:spPr>
          <a:xfrm>
            <a:off x="804672" y="2212848"/>
            <a:ext cx="1792223" cy="75895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 dirty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UI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 dirty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Three.js simulation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62" name="圆角矩形"/>
          <p:cNvSpPr>
            <a:spLocks/>
          </p:cNvSpPr>
          <p:nvPr/>
        </p:nvSpPr>
        <p:spPr>
          <a:xfrm>
            <a:off x="3063239" y="2011679"/>
            <a:ext cx="2011679" cy="1097280"/>
          </a:xfrm>
          <a:prstGeom prst="roundRect">
            <a:avLst>
              <a:gd name="adj" fmla="val 5000"/>
            </a:avLst>
          </a:prstGeom>
          <a:solidFill>
            <a:srgbClr val="30C48D">
              <a:alpha val="85000"/>
            </a:srgbClr>
          </a:solidFill>
          <a:ln w="12700" cap="flat" cmpd="sng">
            <a:solidFill>
              <a:srgbClr val="FFFFFF"/>
            </a:solidFill>
            <a:prstDash val="solid"/>
            <a:round/>
          </a:ln>
          <a:effectLst>
            <a:outerShdw blurRad="25400" dist="12700" dir="2700000" algn="bl" rotWithShape="0">
              <a:srgbClr val="000000">
                <a:alpha val="17647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矩形"/>
          <p:cNvSpPr>
            <a:spLocks/>
          </p:cNvSpPr>
          <p:nvPr/>
        </p:nvSpPr>
        <p:spPr>
          <a:xfrm>
            <a:off x="3136392" y="2212849"/>
            <a:ext cx="1938526" cy="62179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 dirty="0" err="1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FastAPI</a:t>
            </a:r>
            <a:r>
              <a:rPr lang="en-US" altLang="zh-CN" sz="1800" b="1" i="0" u="none" strike="noStrike" kern="1200" cap="none" spc="0" baseline="0" dirty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 backend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 dirty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mission logic + APIs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64" name="圆角矩形"/>
          <p:cNvSpPr>
            <a:spLocks/>
          </p:cNvSpPr>
          <p:nvPr/>
        </p:nvSpPr>
        <p:spPr>
          <a:xfrm>
            <a:off x="5394960" y="2011679"/>
            <a:ext cx="2011679" cy="1097280"/>
          </a:xfrm>
          <a:prstGeom prst="roundRect">
            <a:avLst>
              <a:gd name="adj" fmla="val 5000"/>
            </a:avLst>
          </a:prstGeom>
          <a:solidFill>
            <a:srgbClr val="FF6B6B">
              <a:alpha val="85000"/>
            </a:srgbClr>
          </a:solidFill>
          <a:ln w="12700" cap="flat" cmpd="sng">
            <a:solidFill>
              <a:srgbClr val="FFFFFF"/>
            </a:solidFill>
            <a:prstDash val="solid"/>
            <a:round/>
          </a:ln>
          <a:effectLst>
            <a:outerShdw blurRad="25400" dist="12700" dir="2700000" algn="bl" rotWithShape="0">
              <a:srgbClr val="000000">
                <a:alpha val="17647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5" name="矩形"/>
          <p:cNvSpPr>
            <a:spLocks/>
          </p:cNvSpPr>
          <p:nvPr/>
        </p:nvSpPr>
        <p:spPr>
          <a:xfrm>
            <a:off x="5468112" y="2212848"/>
            <a:ext cx="1865373" cy="7315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 dirty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Collision engine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 dirty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state + event logs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66" name="圆角矩形"/>
          <p:cNvSpPr>
            <a:spLocks/>
          </p:cNvSpPr>
          <p:nvPr/>
        </p:nvSpPr>
        <p:spPr>
          <a:xfrm>
            <a:off x="7726680" y="1371600"/>
            <a:ext cx="2103120" cy="1005839"/>
          </a:xfrm>
          <a:prstGeom prst="roundRect">
            <a:avLst>
              <a:gd name="adj" fmla="val 5453"/>
            </a:avLst>
          </a:prstGeom>
          <a:solidFill>
            <a:srgbClr val="41C7F4">
              <a:alpha val="85000"/>
            </a:srgbClr>
          </a:solidFill>
          <a:ln w="12700" cap="flat" cmpd="sng">
            <a:solidFill>
              <a:srgbClr val="FFFFFF"/>
            </a:solidFill>
            <a:prstDash val="solid"/>
            <a:round/>
          </a:ln>
          <a:effectLst>
            <a:outerShdw blurRad="25400" dist="12700" dir="2700000" algn="bl" rotWithShape="0">
              <a:srgbClr val="000000">
                <a:alpha val="17647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7" name="矩形"/>
          <p:cNvSpPr>
            <a:spLocks/>
          </p:cNvSpPr>
          <p:nvPr/>
        </p:nvSpPr>
        <p:spPr>
          <a:xfrm>
            <a:off x="7799831" y="1389888"/>
            <a:ext cx="1956815" cy="10058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 dirty="0" err="1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ntfy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 dirty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phone alerts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68" name="圆角矩形"/>
          <p:cNvSpPr>
            <a:spLocks/>
          </p:cNvSpPr>
          <p:nvPr/>
        </p:nvSpPr>
        <p:spPr>
          <a:xfrm>
            <a:off x="7726680" y="2743200"/>
            <a:ext cx="2103120" cy="1005839"/>
          </a:xfrm>
          <a:prstGeom prst="roundRect">
            <a:avLst>
              <a:gd name="adj" fmla="val 5453"/>
            </a:avLst>
          </a:prstGeom>
          <a:solidFill>
            <a:srgbClr val="41C7F4">
              <a:alpha val="85000"/>
            </a:srgbClr>
          </a:solidFill>
          <a:ln w="12700" cap="flat" cmpd="sng">
            <a:solidFill>
              <a:srgbClr val="FFFFFF"/>
            </a:solidFill>
            <a:prstDash val="solid"/>
            <a:round/>
          </a:ln>
          <a:effectLst>
            <a:outerShdw blurRad="25400" dist="12700" dir="2700000" algn="bl" rotWithShape="0">
              <a:srgbClr val="000000">
                <a:alpha val="17647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9" name="矩形"/>
          <p:cNvSpPr>
            <a:spLocks/>
          </p:cNvSpPr>
          <p:nvPr/>
        </p:nvSpPr>
        <p:spPr>
          <a:xfrm>
            <a:off x="7799831" y="2743201"/>
            <a:ext cx="1956815" cy="102412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 dirty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Cloudflare Tunnel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 dirty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public demo URL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70" name="矩形"/>
          <p:cNvSpPr>
            <a:spLocks/>
          </p:cNvSpPr>
          <p:nvPr/>
        </p:nvSpPr>
        <p:spPr>
          <a:xfrm>
            <a:off x="822960" y="4846320"/>
            <a:ext cx="7589520" cy="6400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 dirty="0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Notebook runtime: Google </a:t>
            </a:r>
            <a:r>
              <a:rPr lang="en-US" altLang="zh-CN" sz="1700" b="0" i="0" u="none" strike="noStrike" kern="1200" cap="none" spc="0" baseline="0" dirty="0" err="1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Colab</a:t>
            </a:r>
            <a:r>
              <a:rPr lang="en-US" altLang="zh-CN" sz="1700" b="0" i="0" u="none" strike="noStrike" kern="1200" cap="none" spc="0" baseline="0" dirty="0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 </a:t>
            </a:r>
            <a:endParaRPr lang="en-US" altLang="zh-CN" sz="1700" b="0" i="0" u="none" strike="noStrike" kern="1200" cap="none" spc="0" baseline="0" dirty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 dirty="0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Dependencies: </a:t>
            </a:r>
            <a:r>
              <a:rPr lang="en-US" altLang="zh-CN" sz="1700" dirty="0" err="1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F</a:t>
            </a:r>
            <a:r>
              <a:rPr lang="en-US" altLang="zh-CN" sz="1700" b="0" i="0" u="none" strike="noStrike" kern="1200" cap="none" spc="0" baseline="0" dirty="0" err="1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astAPI</a:t>
            </a:r>
            <a:r>
              <a:rPr lang="en-US" altLang="zh-CN" sz="1700" b="0" i="0" u="none" strike="noStrike" kern="1200" cap="none" spc="0" baseline="0" dirty="0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 , </a:t>
            </a:r>
            <a:r>
              <a:rPr lang="en-US" altLang="zh-CN" sz="1700" dirty="0" err="1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U</a:t>
            </a:r>
            <a:r>
              <a:rPr lang="en-US" altLang="zh-CN" sz="1700" b="0" i="0" u="none" strike="noStrike" kern="1200" cap="none" spc="0" baseline="0" dirty="0" err="1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vicorn</a:t>
            </a:r>
            <a:r>
              <a:rPr lang="en-US" altLang="zh-CN" sz="1700" b="0" i="0" u="none" strike="noStrike" kern="1200" cap="none" spc="0" baseline="0" dirty="0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 , Requests, </a:t>
            </a:r>
            <a:r>
              <a:rPr lang="en-US" altLang="zh-CN" sz="1700" b="0" i="0" u="none" strike="noStrike" kern="1200" cap="none" spc="0" baseline="0" dirty="0" err="1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nest_asyncio</a:t>
            </a:r>
            <a:r>
              <a:rPr lang="en-US" altLang="zh-CN" sz="1700" b="0" i="0" u="none" strike="noStrike" kern="1200" cap="none" spc="0" baseline="0" dirty="0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 , </a:t>
            </a:r>
            <a:r>
              <a:rPr lang="en-US" altLang="zh-CN" sz="1700" dirty="0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C</a:t>
            </a:r>
            <a:r>
              <a:rPr lang="en-US" altLang="zh-CN" sz="1700" b="0" i="0" u="none" strike="noStrike" kern="1200" cap="none" spc="0" baseline="0" dirty="0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loudflare tunnel</a:t>
            </a:r>
            <a:endParaRPr lang="zh-CN" altLang="en-US" sz="1700" b="0" i="0" u="none" strike="noStrike" kern="1200" cap="none" spc="0" baseline="0" dirty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71" name="矩形"/>
          <p:cNvSpPr>
            <a:spLocks/>
          </p:cNvSpPr>
          <p:nvPr/>
        </p:nvSpPr>
        <p:spPr>
          <a:xfrm>
            <a:off x="11430001" y="6400800"/>
            <a:ext cx="274319" cy="1828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A0B3CC"/>
                </a:solidFill>
                <a:latin typeface="Aptos" charset="0"/>
                <a:ea typeface="等线" charset="0"/>
                <a:cs typeface="Aptos" charset="0"/>
              </a:rPr>
              <a:t>4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174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"/>
          <p:cNvSpPr>
            <a:spLocks/>
          </p:cNvSpPr>
          <p:nvPr/>
        </p:nvSpPr>
        <p:spPr>
          <a:xfrm>
            <a:off x="640080" y="365760"/>
            <a:ext cx="7223760" cy="5029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F8FAFC"/>
                </a:solidFill>
                <a:latin typeface="Aptos Display" charset="0"/>
                <a:ea typeface="Aptos Display" charset="0"/>
                <a:cs typeface="Aptos Display" charset="0"/>
              </a:rPr>
              <a:t>Core features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75" name="矩形"/>
          <p:cNvSpPr>
            <a:spLocks/>
          </p:cNvSpPr>
          <p:nvPr/>
        </p:nvSpPr>
        <p:spPr>
          <a:xfrm>
            <a:off x="658368" y="896112"/>
            <a:ext cx="7772400" cy="29260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9DB1CC"/>
                </a:solidFill>
                <a:latin typeface="Aptos" charset="0"/>
                <a:ea typeface="等线" charset="0"/>
                <a:cs typeface="Aptos" charset="0"/>
              </a:rPr>
              <a:t>Capabilities called out in the provided README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76" name="直线"/>
          <p:cNvSpPr>
            <a:spLocks/>
          </p:cNvSpPr>
          <p:nvPr/>
        </p:nvSpPr>
        <p:spPr>
          <a:xfrm>
            <a:off x="640080" y="1234440"/>
            <a:ext cx="10881359" cy="0"/>
          </a:xfrm>
          <a:prstGeom prst="line">
            <a:avLst/>
          </a:prstGeom>
          <a:noFill/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77" name="圆角矩形"/>
          <p:cNvSpPr>
            <a:spLocks/>
          </p:cNvSpPr>
          <p:nvPr/>
        </p:nvSpPr>
        <p:spPr>
          <a:xfrm>
            <a:off x="822960" y="1737360"/>
            <a:ext cx="4937760" cy="1371600"/>
          </a:xfrm>
          <a:prstGeom prst="roundRect">
            <a:avLst>
              <a:gd name="adj" fmla="val 3333"/>
            </a:avLst>
          </a:prstGeom>
          <a:solidFill>
            <a:srgbClr val="102849"/>
          </a:solidFill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78" name="矩形"/>
          <p:cNvSpPr>
            <a:spLocks/>
          </p:cNvSpPr>
          <p:nvPr/>
        </p:nvSpPr>
        <p:spPr>
          <a:xfrm>
            <a:off x="1005839" y="1920240"/>
            <a:ext cx="4480560" cy="2743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Autonomous avoidance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79" name="矩形"/>
          <p:cNvSpPr>
            <a:spLocks/>
          </p:cNvSpPr>
          <p:nvPr/>
        </p:nvSpPr>
        <p:spPr>
          <a:xfrm>
            <a:off x="1005839" y="2331720"/>
            <a:ext cx="4480560" cy="5029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Detects collision risk and triggers thruster-based avoidance.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80" name="圆角矩形"/>
          <p:cNvSpPr>
            <a:spLocks/>
          </p:cNvSpPr>
          <p:nvPr/>
        </p:nvSpPr>
        <p:spPr>
          <a:xfrm>
            <a:off x="6217920" y="1737360"/>
            <a:ext cx="4937759" cy="1371600"/>
          </a:xfrm>
          <a:prstGeom prst="roundRect">
            <a:avLst>
              <a:gd name="adj" fmla="val 3333"/>
            </a:avLst>
          </a:prstGeom>
          <a:solidFill>
            <a:srgbClr val="102849"/>
          </a:solidFill>
          <a:ln w="12700" cap="flat" cmpd="sng">
            <a:solidFill>
              <a:srgbClr val="30C48D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81" name="矩形"/>
          <p:cNvSpPr>
            <a:spLocks/>
          </p:cNvSpPr>
          <p:nvPr/>
        </p:nvSpPr>
        <p:spPr>
          <a:xfrm>
            <a:off x="6400800" y="1920240"/>
            <a:ext cx="4480561" cy="2743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Orbit recovery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82" name="矩形"/>
          <p:cNvSpPr>
            <a:spLocks/>
          </p:cNvSpPr>
          <p:nvPr/>
        </p:nvSpPr>
        <p:spPr>
          <a:xfrm>
            <a:off x="6400800" y="2331720"/>
            <a:ext cx="4480561" cy="5029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Returns satellite to a stable operating trajectory after avoidance.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83" name="圆角矩形"/>
          <p:cNvSpPr>
            <a:spLocks/>
          </p:cNvSpPr>
          <p:nvPr/>
        </p:nvSpPr>
        <p:spPr>
          <a:xfrm>
            <a:off x="822960" y="3749040"/>
            <a:ext cx="4937760" cy="1371599"/>
          </a:xfrm>
          <a:prstGeom prst="roundRect">
            <a:avLst>
              <a:gd name="adj" fmla="val 3333"/>
            </a:avLst>
          </a:prstGeom>
          <a:solidFill>
            <a:srgbClr val="102849"/>
          </a:solidFill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84" name="矩形"/>
          <p:cNvSpPr>
            <a:spLocks/>
          </p:cNvSpPr>
          <p:nvPr/>
        </p:nvSpPr>
        <p:spPr>
          <a:xfrm>
            <a:off x="1005839" y="3931920"/>
            <a:ext cx="4480560" cy="2743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Real-time alerts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>
            <a:off x="1005839" y="4343400"/>
            <a:ext cx="4480560" cy="5029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Pushes phone alerts through ntfy for critical events.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86" name="圆角矩形"/>
          <p:cNvSpPr>
            <a:spLocks/>
          </p:cNvSpPr>
          <p:nvPr/>
        </p:nvSpPr>
        <p:spPr>
          <a:xfrm>
            <a:off x="6217920" y="3749040"/>
            <a:ext cx="4937759" cy="1371599"/>
          </a:xfrm>
          <a:prstGeom prst="roundRect">
            <a:avLst>
              <a:gd name="adj" fmla="val 3333"/>
            </a:avLst>
          </a:prstGeom>
          <a:solidFill>
            <a:srgbClr val="102849"/>
          </a:solidFill>
          <a:ln w="12700" cap="flat" cmpd="sng">
            <a:solidFill>
              <a:srgbClr val="30C48D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87" name="矩形"/>
          <p:cNvSpPr>
            <a:spLocks/>
          </p:cNvSpPr>
          <p:nvPr/>
        </p:nvSpPr>
        <p:spPr>
          <a:xfrm>
            <a:off x="6400800" y="3931920"/>
            <a:ext cx="4480561" cy="2743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Operational traceability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88" name="矩形"/>
          <p:cNvSpPr>
            <a:spLocks/>
          </p:cNvSpPr>
          <p:nvPr/>
        </p:nvSpPr>
        <p:spPr>
          <a:xfrm>
            <a:off x="6400800" y="4343400"/>
            <a:ext cx="4480561" cy="5029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Maintains event logs for mission state changes.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89" name="矩形"/>
          <p:cNvSpPr>
            <a:spLocks/>
          </p:cNvSpPr>
          <p:nvPr/>
        </p:nvSpPr>
        <p:spPr>
          <a:xfrm>
            <a:off x="11430001" y="6400800"/>
            <a:ext cx="274319" cy="1828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A0B3CC"/>
                </a:solidFill>
                <a:latin typeface="Aptos" charset="0"/>
                <a:ea typeface="等线" charset="0"/>
                <a:cs typeface="Aptos" charset="0"/>
              </a:rPr>
              <a:t>5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050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"/>
          <p:cNvSpPr>
            <a:spLocks/>
          </p:cNvSpPr>
          <p:nvPr/>
        </p:nvSpPr>
        <p:spPr>
          <a:xfrm>
            <a:off x="640080" y="365760"/>
            <a:ext cx="7223760" cy="5029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F8FAFC"/>
                </a:solidFill>
                <a:latin typeface="Aptos Display" charset="0"/>
                <a:ea typeface="Aptos Display" charset="0"/>
                <a:cs typeface="Aptos Display" charset="0"/>
              </a:rPr>
              <a:t>Demo workflow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93" name="矩形"/>
          <p:cNvSpPr>
            <a:spLocks/>
          </p:cNvSpPr>
          <p:nvPr/>
        </p:nvSpPr>
        <p:spPr>
          <a:xfrm>
            <a:off x="658368" y="896112"/>
            <a:ext cx="7772400" cy="29260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9DB1CC"/>
                </a:solidFill>
                <a:latin typeface="Aptos" charset="0"/>
                <a:ea typeface="等线" charset="0"/>
                <a:cs typeface="Aptos" charset="0"/>
              </a:rPr>
              <a:t>How the notebook is run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94" name="直线"/>
          <p:cNvSpPr>
            <a:spLocks/>
          </p:cNvSpPr>
          <p:nvPr/>
        </p:nvSpPr>
        <p:spPr>
          <a:xfrm>
            <a:off x="640080" y="1234440"/>
            <a:ext cx="10881359" cy="0"/>
          </a:xfrm>
          <a:prstGeom prst="line">
            <a:avLst/>
          </a:prstGeom>
          <a:noFill/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95" name="椭圆"/>
          <p:cNvSpPr>
            <a:spLocks/>
          </p:cNvSpPr>
          <p:nvPr/>
        </p:nvSpPr>
        <p:spPr>
          <a:xfrm>
            <a:off x="914400" y="1645920"/>
            <a:ext cx="347472" cy="347472"/>
          </a:xfrm>
          <a:prstGeom prst="ellipse">
            <a:avLst/>
          </a:prstGeom>
          <a:solidFill>
            <a:srgbClr val="2F6BFF"/>
          </a:solidFill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96" name="矩形"/>
          <p:cNvSpPr>
            <a:spLocks/>
          </p:cNvSpPr>
          <p:nvPr/>
        </p:nvSpPr>
        <p:spPr>
          <a:xfrm>
            <a:off x="914400" y="1691639"/>
            <a:ext cx="347472" cy="1828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1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97" name="矩形"/>
          <p:cNvSpPr>
            <a:spLocks/>
          </p:cNvSpPr>
          <p:nvPr/>
        </p:nvSpPr>
        <p:spPr>
          <a:xfrm>
            <a:off x="1417320" y="1636776"/>
            <a:ext cx="6583680" cy="2560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Open the notebook in Google Colab.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98" name="椭圆"/>
          <p:cNvSpPr>
            <a:spLocks/>
          </p:cNvSpPr>
          <p:nvPr/>
        </p:nvSpPr>
        <p:spPr>
          <a:xfrm>
            <a:off x="914400" y="2359152"/>
            <a:ext cx="347472" cy="347472"/>
          </a:xfrm>
          <a:prstGeom prst="ellipse">
            <a:avLst/>
          </a:prstGeom>
          <a:solidFill>
            <a:srgbClr val="2F6BFF"/>
          </a:solidFill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99" name="矩形"/>
          <p:cNvSpPr>
            <a:spLocks/>
          </p:cNvSpPr>
          <p:nvPr/>
        </p:nvSpPr>
        <p:spPr>
          <a:xfrm>
            <a:off x="914400" y="2404872"/>
            <a:ext cx="347472" cy="1828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2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00" name="矩形"/>
          <p:cNvSpPr>
            <a:spLocks/>
          </p:cNvSpPr>
          <p:nvPr/>
        </p:nvSpPr>
        <p:spPr>
          <a:xfrm>
            <a:off x="1417320" y="2350008"/>
            <a:ext cx="6583680" cy="2560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Run all cells.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01" name="椭圆"/>
          <p:cNvSpPr>
            <a:spLocks/>
          </p:cNvSpPr>
          <p:nvPr/>
        </p:nvSpPr>
        <p:spPr>
          <a:xfrm>
            <a:off x="914400" y="3072384"/>
            <a:ext cx="347472" cy="347472"/>
          </a:xfrm>
          <a:prstGeom prst="ellipse">
            <a:avLst/>
          </a:prstGeom>
          <a:solidFill>
            <a:srgbClr val="2F6BFF"/>
          </a:solidFill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2" name="矩形"/>
          <p:cNvSpPr>
            <a:spLocks/>
          </p:cNvSpPr>
          <p:nvPr/>
        </p:nvSpPr>
        <p:spPr>
          <a:xfrm>
            <a:off x="914400" y="3118104"/>
            <a:ext cx="347472" cy="1828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3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03" name="矩形"/>
          <p:cNvSpPr>
            <a:spLocks/>
          </p:cNvSpPr>
          <p:nvPr/>
        </p:nvSpPr>
        <p:spPr>
          <a:xfrm>
            <a:off x="1417320" y="3063239"/>
            <a:ext cx="6583680" cy="2560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Start the local FastAPI server.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04" name="椭圆"/>
          <p:cNvSpPr>
            <a:spLocks/>
          </p:cNvSpPr>
          <p:nvPr/>
        </p:nvSpPr>
        <p:spPr>
          <a:xfrm>
            <a:off x="914400" y="3785616"/>
            <a:ext cx="347472" cy="347472"/>
          </a:xfrm>
          <a:prstGeom prst="ellipse">
            <a:avLst/>
          </a:prstGeom>
          <a:solidFill>
            <a:srgbClr val="2F6BFF"/>
          </a:solidFill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5" name="矩形"/>
          <p:cNvSpPr>
            <a:spLocks/>
          </p:cNvSpPr>
          <p:nvPr/>
        </p:nvSpPr>
        <p:spPr>
          <a:xfrm>
            <a:off x="914400" y="3831336"/>
            <a:ext cx="347472" cy="1828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4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06" name="矩形"/>
          <p:cNvSpPr>
            <a:spLocks/>
          </p:cNvSpPr>
          <p:nvPr/>
        </p:nvSpPr>
        <p:spPr>
          <a:xfrm>
            <a:off x="1417320" y="3776471"/>
            <a:ext cx="6583680" cy="2560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Start Cloudflare Tunnel to expose the app.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07" name="椭圆"/>
          <p:cNvSpPr>
            <a:spLocks/>
          </p:cNvSpPr>
          <p:nvPr/>
        </p:nvSpPr>
        <p:spPr>
          <a:xfrm>
            <a:off x="914400" y="4498848"/>
            <a:ext cx="347472" cy="347472"/>
          </a:xfrm>
          <a:prstGeom prst="ellipse">
            <a:avLst/>
          </a:prstGeom>
          <a:solidFill>
            <a:srgbClr val="2F6BFF"/>
          </a:solidFill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08" name="矩形"/>
          <p:cNvSpPr>
            <a:spLocks/>
          </p:cNvSpPr>
          <p:nvPr/>
        </p:nvSpPr>
        <p:spPr>
          <a:xfrm>
            <a:off x="914400" y="4544568"/>
            <a:ext cx="347472" cy="18287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5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09" name="矩形"/>
          <p:cNvSpPr>
            <a:spLocks/>
          </p:cNvSpPr>
          <p:nvPr/>
        </p:nvSpPr>
        <p:spPr>
          <a:xfrm>
            <a:off x="1417320" y="4489704"/>
            <a:ext cx="6583680" cy="25603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Open the generated public URL plus /ui.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10" name="椭圆"/>
          <p:cNvSpPr>
            <a:spLocks/>
          </p:cNvSpPr>
          <p:nvPr/>
        </p:nvSpPr>
        <p:spPr>
          <a:xfrm>
            <a:off x="914400" y="5212080"/>
            <a:ext cx="347472" cy="347471"/>
          </a:xfrm>
          <a:prstGeom prst="ellipse">
            <a:avLst/>
          </a:prstGeom>
          <a:solidFill>
            <a:srgbClr val="2F6BFF"/>
          </a:solidFill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11" name="矩形"/>
          <p:cNvSpPr>
            <a:spLocks/>
          </p:cNvSpPr>
          <p:nvPr/>
        </p:nvSpPr>
        <p:spPr>
          <a:xfrm>
            <a:off x="914400" y="5257800"/>
            <a:ext cx="347472" cy="1828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1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6</a:t>
            </a:r>
            <a:endParaRPr lang="zh-CN" altLang="en-US" sz="14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12" name="矩形"/>
          <p:cNvSpPr>
            <a:spLocks/>
          </p:cNvSpPr>
          <p:nvPr/>
        </p:nvSpPr>
        <p:spPr>
          <a:xfrm>
            <a:off x="1417320" y="5202936"/>
            <a:ext cx="6583680" cy="25603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Subscribe in ntfy and test alerts.</a:t>
            </a:r>
            <a:endParaRPr lang="zh-CN" altLang="en-US" sz="20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13" name="圆角矩形"/>
          <p:cNvSpPr>
            <a:spLocks/>
          </p:cNvSpPr>
          <p:nvPr/>
        </p:nvSpPr>
        <p:spPr>
          <a:xfrm>
            <a:off x="8321040" y="1920240"/>
            <a:ext cx="2651760" cy="2377440"/>
          </a:xfrm>
          <a:prstGeom prst="roundRect">
            <a:avLst>
              <a:gd name="adj" fmla="val 2310"/>
            </a:avLst>
          </a:prstGeom>
          <a:solidFill>
            <a:srgbClr val="102849"/>
          </a:solidFill>
          <a:ln w="12700" cap="flat" cmpd="sng">
            <a:solidFill>
              <a:srgbClr val="41C7F4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14" name="矩形"/>
          <p:cNvSpPr>
            <a:spLocks/>
          </p:cNvSpPr>
          <p:nvPr/>
        </p:nvSpPr>
        <p:spPr>
          <a:xfrm>
            <a:off x="8549640" y="2148840"/>
            <a:ext cx="2011679" cy="2743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0" baseline="0">
                <a:solidFill>
                  <a:srgbClr val="41C7F4"/>
                </a:solidFill>
                <a:latin typeface="Aptos" charset="0"/>
                <a:ea typeface="等线" charset="0"/>
                <a:cs typeface="Aptos" charset="0"/>
              </a:rPr>
              <a:t>Notebook evidence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15" name="矩形"/>
          <p:cNvSpPr>
            <a:spLocks/>
          </p:cNvSpPr>
          <p:nvPr/>
        </p:nvSpPr>
        <p:spPr>
          <a:xfrm>
            <a:off x="8549640" y="2560320"/>
            <a:ext cx="2103120" cy="12801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500" b="0" i="0" u="none" strike="noStrike" kern="1200" cap="none" spc="0" baseline="0">
                <a:solidFill>
                  <a:srgbClr val="EAF1FB"/>
                </a:solidFill>
                <a:latin typeface="Aptos" charset="0"/>
                <a:ea typeface="等线" charset="0"/>
                <a:cs typeface="Aptos" charset="0"/>
              </a:rPr>
              <a:t>The uploaded notebook shows pip install, FastAPI app startup, localhost checks, and Cloudflare tunnel creation.</a:t>
            </a:r>
            <a:endParaRPr lang="zh-CN" altLang="en-US" sz="15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16" name="矩形"/>
          <p:cNvSpPr>
            <a:spLocks/>
          </p:cNvSpPr>
          <p:nvPr/>
        </p:nvSpPr>
        <p:spPr>
          <a:xfrm>
            <a:off x="11430001" y="6400800"/>
            <a:ext cx="274319" cy="1828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A0B3CC"/>
                </a:solidFill>
                <a:latin typeface="Aptos" charset="0"/>
                <a:ea typeface="等线" charset="0"/>
                <a:cs typeface="Aptos" charset="0"/>
              </a:rPr>
              <a:t>6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833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矩形"/>
          <p:cNvSpPr>
            <a:spLocks/>
          </p:cNvSpPr>
          <p:nvPr/>
        </p:nvSpPr>
        <p:spPr>
          <a:xfrm>
            <a:off x="640080" y="365760"/>
            <a:ext cx="7223760" cy="5029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F8FAFC"/>
                </a:solidFill>
                <a:latin typeface="Aptos Display" charset="0"/>
                <a:ea typeface="Aptos Display" charset="0"/>
                <a:cs typeface="Aptos Display" charset="0"/>
              </a:rPr>
              <a:t>Use cases, limitations, and future scope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20" name="矩形"/>
          <p:cNvSpPr>
            <a:spLocks/>
          </p:cNvSpPr>
          <p:nvPr/>
        </p:nvSpPr>
        <p:spPr>
          <a:xfrm>
            <a:off x="658368" y="896112"/>
            <a:ext cx="7772400" cy="29260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9DB1CC"/>
                </a:solidFill>
                <a:latin typeface="Aptos" charset="0"/>
                <a:ea typeface="等线" charset="0"/>
                <a:cs typeface="Aptos" charset="0"/>
              </a:rPr>
              <a:t>What this prototype is good for today vs. next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21" name="直线"/>
          <p:cNvSpPr>
            <a:spLocks/>
          </p:cNvSpPr>
          <p:nvPr/>
        </p:nvSpPr>
        <p:spPr>
          <a:xfrm>
            <a:off x="640080" y="1234440"/>
            <a:ext cx="10881359" cy="0"/>
          </a:xfrm>
          <a:prstGeom prst="line">
            <a:avLst/>
          </a:prstGeom>
          <a:noFill/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22" name="矩形"/>
          <p:cNvSpPr>
            <a:spLocks/>
          </p:cNvSpPr>
          <p:nvPr/>
        </p:nvSpPr>
        <p:spPr>
          <a:xfrm>
            <a:off x="822960" y="1554480"/>
            <a:ext cx="1828799" cy="2743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1" i="0" u="none" strike="noStrike" kern="1200" cap="none" spc="0" baseline="0">
                <a:solidFill>
                  <a:srgbClr val="30C48D"/>
                </a:solidFill>
                <a:latin typeface="Aptos" charset="0"/>
                <a:ea typeface="等线" charset="0"/>
                <a:cs typeface="Aptos" charset="0"/>
              </a:rPr>
              <a:t>Use cases</a:t>
            </a:r>
            <a:endParaRPr lang="zh-CN" altLang="en-US" sz="21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23" name="矩形"/>
          <p:cNvSpPr>
            <a:spLocks/>
          </p:cNvSpPr>
          <p:nvPr/>
        </p:nvSpPr>
        <p:spPr>
          <a:xfrm>
            <a:off x="868680" y="1920240"/>
            <a:ext cx="3017519" cy="16459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508" tIns="508" rIns="508" bIns="508" anchor="t" anchorCtr="0">
            <a:prstTxWarp prst="textNoShape">
              <a:avLst/>
            </a:prstTxWarp>
          </a:bodyPr>
          <a:lstStyle/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8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Space agencies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8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Satellite constellations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8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Space debris monitoring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24" name="矩形"/>
          <p:cNvSpPr>
            <a:spLocks/>
          </p:cNvSpPr>
          <p:nvPr/>
        </p:nvSpPr>
        <p:spPr>
          <a:xfrm>
            <a:off x="4206240" y="1554480"/>
            <a:ext cx="2285999" cy="2743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1" i="0" u="none" strike="noStrike" kern="1200" cap="none" spc="0" baseline="0">
                <a:solidFill>
                  <a:srgbClr val="FF6B6B"/>
                </a:solidFill>
                <a:latin typeface="Aptos" charset="0"/>
                <a:ea typeface="等线" charset="0"/>
                <a:cs typeface="Aptos" charset="0"/>
              </a:rPr>
              <a:t>Current limitations</a:t>
            </a:r>
            <a:endParaRPr lang="zh-CN" altLang="en-US" sz="21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25" name="矩形"/>
          <p:cNvSpPr>
            <a:spLocks/>
          </p:cNvSpPr>
          <p:nvPr/>
        </p:nvSpPr>
        <p:spPr>
          <a:xfrm>
            <a:off x="4251960" y="1920240"/>
            <a:ext cx="3200400" cy="16459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508" tIns="508" rIns="508" bIns="508" anchor="t" anchorCtr="0">
            <a:prstTxWarp prst="textNoShape">
              <a:avLst/>
            </a:prstTxWarp>
          </a:bodyPr>
          <a:lstStyle/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8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Simplified orbital physics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8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No live satellite data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8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Temporary Cloudflare public URL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26" name="矩形"/>
          <p:cNvSpPr>
            <a:spLocks/>
          </p:cNvSpPr>
          <p:nvPr/>
        </p:nvSpPr>
        <p:spPr>
          <a:xfrm>
            <a:off x="7772400" y="1554480"/>
            <a:ext cx="1828800" cy="27432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1" i="0" u="none" strike="noStrike" kern="1200" cap="none" spc="0" baseline="0">
                <a:solidFill>
                  <a:srgbClr val="41C7F4"/>
                </a:solidFill>
                <a:latin typeface="Aptos" charset="0"/>
                <a:ea typeface="等线" charset="0"/>
                <a:cs typeface="Aptos" charset="0"/>
              </a:rPr>
              <a:t>Future scope</a:t>
            </a:r>
            <a:endParaRPr lang="zh-CN" altLang="en-US" sz="21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27" name="矩形"/>
          <p:cNvSpPr>
            <a:spLocks/>
          </p:cNvSpPr>
          <p:nvPr/>
        </p:nvSpPr>
        <p:spPr>
          <a:xfrm>
            <a:off x="7818120" y="1920240"/>
            <a:ext cx="3017519" cy="18288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508" tIns="508" rIns="508" bIns="508" anchor="t" anchorCtr="0">
            <a:prstTxWarp prst="textNoShape">
              <a:avLst/>
            </a:prstTxWarp>
          </a:bodyPr>
          <a:lstStyle/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8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Real orbital physics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8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AI trajectory optimization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8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Live satellite data integration</a:t>
            </a:r>
            <a:endParaRPr lang="en-US" altLang="zh-CN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  <a:p>
            <a:pPr marL="17780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lang="en-US" altLang="zh-CN" sz="18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Permanent cloud deployment</a:t>
            </a: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28" name="矩形"/>
          <p:cNvSpPr>
            <a:spLocks/>
          </p:cNvSpPr>
          <p:nvPr/>
        </p:nvSpPr>
        <p:spPr>
          <a:xfrm>
            <a:off x="11430001" y="6400800"/>
            <a:ext cx="274319" cy="1828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A0B3CC"/>
                </a:solidFill>
                <a:latin typeface="Aptos" charset="0"/>
                <a:ea typeface="等线" charset="0"/>
                <a:cs typeface="Aptos" charset="0"/>
              </a:rPr>
              <a:t>7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064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>
            <a:spLocks/>
          </p:cNvSpPr>
          <p:nvPr/>
        </p:nvSpPr>
        <p:spPr>
          <a:xfrm>
            <a:off x="640080" y="365760"/>
            <a:ext cx="7223760" cy="50291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>
                <a:solidFill>
                  <a:srgbClr val="F8FAFC"/>
                </a:solidFill>
                <a:latin typeface="Aptos Display" charset="0"/>
                <a:ea typeface="Aptos Display" charset="0"/>
                <a:cs typeface="Aptos Display" charset="0"/>
              </a:rPr>
              <a:t>Conclusion</a:t>
            </a:r>
            <a:endParaRPr lang="zh-CN" altLang="en-US" sz="28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32" name="矩形"/>
          <p:cNvSpPr>
            <a:spLocks/>
          </p:cNvSpPr>
          <p:nvPr/>
        </p:nvSpPr>
        <p:spPr>
          <a:xfrm>
            <a:off x="658368" y="896112"/>
            <a:ext cx="7772400" cy="29260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00" b="0" i="0" u="none" strike="noStrike" kern="1200" cap="none" spc="0" baseline="0">
                <a:solidFill>
                  <a:srgbClr val="9DB1CC"/>
                </a:solidFill>
                <a:latin typeface="Aptos" charset="0"/>
                <a:ea typeface="等线" charset="0"/>
                <a:cs typeface="Aptos" charset="0"/>
              </a:rPr>
              <a:t>Summary</a:t>
            </a:r>
            <a:endParaRPr lang="zh-CN" altLang="en-US" sz="13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33" name="直线"/>
          <p:cNvSpPr>
            <a:spLocks/>
          </p:cNvSpPr>
          <p:nvPr/>
        </p:nvSpPr>
        <p:spPr>
          <a:xfrm>
            <a:off x="640080" y="1234440"/>
            <a:ext cx="10881359" cy="0"/>
          </a:xfrm>
          <a:prstGeom prst="line">
            <a:avLst/>
          </a:prstGeom>
          <a:noFill/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34" name="圆角矩形"/>
          <p:cNvSpPr>
            <a:spLocks/>
          </p:cNvSpPr>
          <p:nvPr/>
        </p:nvSpPr>
        <p:spPr>
          <a:xfrm>
            <a:off x="914400" y="1828800"/>
            <a:ext cx="10058401" cy="2560320"/>
          </a:xfrm>
          <a:prstGeom prst="roundRect">
            <a:avLst>
              <a:gd name="adj" fmla="val 2856"/>
            </a:avLst>
          </a:prstGeom>
          <a:solidFill>
            <a:srgbClr val="102849"/>
          </a:solidFill>
          <a:ln w="12700" cap="flat" cmpd="sng">
            <a:solidFill>
              <a:srgbClr val="2F6BFF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35" name="矩形"/>
          <p:cNvSpPr>
            <a:spLocks/>
          </p:cNvSpPr>
          <p:nvPr/>
        </p:nvSpPr>
        <p:spPr>
          <a:xfrm>
            <a:off x="1234440" y="2331720"/>
            <a:ext cx="9326880" cy="146304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508" tIns="508" rIns="508" bIns="508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F8FAFC"/>
                </a:solidFill>
                <a:latin typeface="Aptos" charset="0"/>
                <a:ea typeface="等线" charset="0"/>
                <a:cs typeface="Aptos" charset="0"/>
              </a:rPr>
              <a:t>Orbital Insight demonstrates a scalable approach to autonomous satellite collision avoidance by combining simulation, automation, and real-time alerts. The current implementation is a prototype, but it establishes a clear path toward higher-fidelity orbital modeling and live operational integration.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36" name="矩形"/>
          <p:cNvSpPr>
            <a:spLocks/>
          </p:cNvSpPr>
          <p:nvPr/>
        </p:nvSpPr>
        <p:spPr>
          <a:xfrm>
            <a:off x="3108960" y="4892040"/>
            <a:ext cx="5852160" cy="228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r>
              <a:rPr lang="en-US" altLang="zh-CN" sz="1600" dirty="0">
                <a:solidFill>
                  <a:srgbClr val="9DB1CC"/>
                </a:solidFill>
                <a:latin typeface="Aptos" charset="0"/>
                <a:ea typeface="等线" charset="0"/>
                <a:cs typeface="Aptos" charset="0"/>
              </a:rPr>
              <a:t>Sources: provided README, requirements, and notebook files.</a:t>
            </a:r>
            <a:endParaRPr lang="zh-CN" altLang="en-US" sz="1600" dirty="0">
              <a:latin typeface="Aptos" charset="0"/>
              <a:ea typeface="等线" charset="0"/>
              <a:cs typeface="Aptos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600" b="0" i="0" u="none" strike="noStrike" kern="1200" cap="none" spc="0" baseline="0" dirty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37" name="矩形"/>
          <p:cNvSpPr>
            <a:spLocks/>
          </p:cNvSpPr>
          <p:nvPr/>
        </p:nvSpPr>
        <p:spPr>
          <a:xfrm>
            <a:off x="11430001" y="6400800"/>
            <a:ext cx="274319" cy="1828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900" b="0" i="0" u="none" strike="noStrike" kern="1200" cap="none" spc="0" baseline="0">
                <a:solidFill>
                  <a:srgbClr val="A0B3CC"/>
                </a:solidFill>
                <a:latin typeface="Aptos" charset="0"/>
                <a:ea typeface="等线" charset="0"/>
                <a:cs typeface="Aptos" charset="0"/>
              </a:rPr>
              <a:t>8</a:t>
            </a:r>
            <a:endParaRPr lang="zh-CN" altLang="en-US" sz="9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204986" y="5383683"/>
            <a:ext cx="118027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Repository: https://github.com/show-yamato/orbital-debris-avoidance-and-constellation-management-system</a:t>
            </a:r>
          </a:p>
        </p:txBody>
      </p:sp>
    </p:spTree>
    <p:extLst>
      <p:ext uri="{BB962C8B-B14F-4D97-AF65-F5344CB8AC3E}">
        <p14:creationId xmlns:p14="http://schemas.microsoft.com/office/powerpoint/2010/main" val="350087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8</TotalTime>
  <Words>498</Words>
  <Application>Microsoft Office PowerPoint</Application>
  <PresentationFormat>Widescreen</PresentationFormat>
  <Paragraphs>112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Droid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Orbital Insight</dc:title>
  <dc:subject>Orbital Insight</dc:subject>
  <dc:creator>OpenAI</dc:creator>
  <cp:lastModifiedBy>Luckyyy 07</cp:lastModifiedBy>
  <cp:revision>2</cp:revision>
  <dcterms:created xsi:type="dcterms:W3CDTF">2026-03-28T18:42:21Z</dcterms:created>
  <dcterms:modified xsi:type="dcterms:W3CDTF">2026-03-28T19:50:31Z</dcterms:modified>
</cp:coreProperties>
</file>